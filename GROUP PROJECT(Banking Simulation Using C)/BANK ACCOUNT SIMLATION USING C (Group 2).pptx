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457200">
              <a:buSzTx/>
              <a:buFontTx/>
              <a:buNone/>
              <a:defRPr b="1" sz="2400"/>
            </a:lvl2pPr>
            <a:lvl3pPr marL="0" indent="914400">
              <a:buSzTx/>
              <a:buFontTx/>
              <a:buNone/>
              <a:defRPr b="1" sz="2400"/>
            </a:lvl3pPr>
            <a:lvl4pPr marL="0" indent="1371600">
              <a:buSzTx/>
              <a:buFontTx/>
              <a:buNone/>
              <a:defRPr b="1" sz="2400"/>
            </a:lvl4pPr>
            <a:lvl5pPr marL="0" indent="1828800"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1.jpe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e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e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 txBox="1"/>
          <p:nvPr>
            <p:ph type="ctrTitle"/>
          </p:nvPr>
        </p:nvSpPr>
        <p:spPr>
          <a:xfrm>
            <a:off x="558975" y="2665695"/>
            <a:ext cx="11074050" cy="1710814"/>
          </a:xfrm>
          <a:prstGeom prst="rect">
            <a:avLst/>
          </a:prstGeom>
        </p:spPr>
        <p:txBody>
          <a:bodyPr/>
          <a:lstStyle>
            <a:lvl1pPr defTabSz="740663">
              <a:defRPr b="1" sz="5994" u="sng">
                <a:solidFill>
                  <a:srgbClr val="001F73"/>
                </a:solidFill>
                <a:latin typeface="Carlito"/>
                <a:ea typeface="Carlito"/>
                <a:cs typeface="Carlito"/>
                <a:sym typeface="Carlito"/>
              </a:defRPr>
            </a:lvl1pPr>
          </a:lstStyle>
          <a:p>
            <a:pPr/>
            <a:r>
              <a:t>BANK ACCOUNT SIMULATION USING C</a:t>
            </a:r>
          </a:p>
        </p:txBody>
      </p:sp>
      <p:pic>
        <p:nvPicPr>
          <p:cNvPr id="95" name="Picture 10" descr="Picture 1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71827" y="284398"/>
            <a:ext cx="4432037" cy="139093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itle 1"/>
          <p:cNvSpPr txBox="1"/>
          <p:nvPr>
            <p:ph type="title"/>
          </p:nvPr>
        </p:nvSpPr>
        <p:spPr>
          <a:xfrm>
            <a:off x="838199" y="157895"/>
            <a:ext cx="10515601" cy="1610145"/>
          </a:xfrm>
          <a:prstGeom prst="rect">
            <a:avLst/>
          </a:prstGeom>
        </p:spPr>
        <p:txBody>
          <a:bodyPr/>
          <a:lstStyle>
            <a:lvl1pPr>
              <a:defRPr i="1" sz="6000">
                <a:solidFill>
                  <a:srgbClr val="A41723"/>
                </a:solidFill>
                <a:latin typeface="Carlito"/>
                <a:ea typeface="Carlito"/>
                <a:cs typeface="Carlito"/>
                <a:sym typeface="Carlito"/>
              </a:defRPr>
            </a:lvl1pPr>
          </a:lstStyle>
          <a:p>
            <a:pPr/>
            <a:r>
              <a:t>Our Team</a:t>
            </a:r>
          </a:p>
        </p:txBody>
      </p:sp>
      <p:sp>
        <p:nvSpPr>
          <p:cNvPr id="98" name="Content Placeholder 2"/>
          <p:cNvSpPr txBox="1"/>
          <p:nvPr>
            <p:ph type="body" idx="1"/>
          </p:nvPr>
        </p:nvSpPr>
        <p:spPr>
          <a:xfrm>
            <a:off x="446766" y="1682271"/>
            <a:ext cx="10515601" cy="4333513"/>
          </a:xfrm>
          <a:prstGeom prst="rect">
            <a:avLst/>
          </a:prstGeom>
        </p:spPr>
        <p:txBody>
          <a:bodyPr/>
          <a:lstStyle/>
          <a:p>
            <a:pPr lvl="1" marL="685800" indent="-228600">
              <a:defRPr i="1" sz="3000">
                <a:solidFill>
                  <a:srgbClr val="8D2F1F"/>
                </a:solidFill>
              </a:defRPr>
            </a:pPr>
            <a:r>
              <a:t>Yash Shahane (1262252671)</a:t>
            </a:r>
          </a:p>
          <a:p>
            <a:pPr lvl="1" marL="685800" indent="-228600">
              <a:defRPr i="1" sz="3000">
                <a:solidFill>
                  <a:srgbClr val="8D2F1F"/>
                </a:solidFill>
              </a:defRPr>
            </a:pPr>
            <a:r>
              <a:t>Samarth Talegaonkar (1262251988)</a:t>
            </a:r>
          </a:p>
          <a:p>
            <a:pPr lvl="1" marL="685800" indent="-228600">
              <a:defRPr i="1" sz="3000">
                <a:solidFill>
                  <a:srgbClr val="8D2F1F"/>
                </a:solidFill>
              </a:defRPr>
            </a:pPr>
            <a:r>
              <a:t>Pranav Unde (1262253863)</a:t>
            </a:r>
          </a:p>
          <a:p>
            <a:pPr lvl="1" marL="685800" indent="-228600">
              <a:defRPr i="1" sz="3000">
                <a:solidFill>
                  <a:srgbClr val="8D2F1F"/>
                </a:solidFill>
              </a:defRPr>
            </a:pPr>
            <a:r>
              <a:t>Pushkar Pathare (1262252053)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Content Placeholder 4" descr="Content Placeholder 4"/>
          <p:cNvPicPr>
            <a:picLocks noChangeAspect="1"/>
          </p:cNvPicPr>
          <p:nvPr/>
        </p:nvPicPr>
        <p:blipFill>
          <a:blip r:embed="rId3">
            <a:alphaModFix amt="0"/>
            <a:extLst/>
          </a:blip>
          <a:stretch>
            <a:fillRect/>
          </a:stretch>
        </p:blipFill>
        <p:spPr>
          <a:xfrm>
            <a:off x="848382" y="559000"/>
            <a:ext cx="11139949" cy="5740000"/>
          </a:xfrm>
          <a:prstGeom prst="rect">
            <a:avLst/>
          </a:prstGeom>
          <a:ln w="12700">
            <a:miter lim="400000"/>
          </a:ln>
        </p:spPr>
      </p:pic>
      <p:sp>
        <p:nvSpPr>
          <p:cNvPr id="101" name="Agenda"/>
          <p:cNvSpPr txBox="1"/>
          <p:nvPr>
            <p:ph type="title"/>
          </p:nvPr>
        </p:nvSpPr>
        <p:spPr>
          <a:xfrm>
            <a:off x="838199" y="138085"/>
            <a:ext cx="10515601" cy="159543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3192"/>
                </a:solidFill>
              </a:defRPr>
            </a:lvl1pPr>
          </a:lstStyle>
          <a:p>
            <a:pPr/>
            <a:r>
              <a:t>Agenda</a:t>
            </a:r>
          </a:p>
        </p:txBody>
      </p:sp>
      <p:sp>
        <p:nvSpPr>
          <p:cNvPr id="102" name="Introduction…"/>
          <p:cNvSpPr txBox="1"/>
          <p:nvPr>
            <p:ph type="body" idx="1"/>
          </p:nvPr>
        </p:nvSpPr>
        <p:spPr>
          <a:xfrm>
            <a:off x="838200" y="1465424"/>
            <a:ext cx="10515601" cy="5032376"/>
          </a:xfrm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0041A1"/>
                </a:solidFill>
              </a:defRPr>
            </a:pPr>
            <a:r>
              <a:t>Introduction</a:t>
            </a:r>
          </a:p>
          <a:p>
            <a:pPr>
              <a:defRPr>
                <a:solidFill>
                  <a:srgbClr val="0041A1"/>
                </a:solidFill>
              </a:defRPr>
            </a:pPr>
            <a:r>
              <a:t>Core concepts &amp; Data Structures</a:t>
            </a:r>
          </a:p>
          <a:p>
            <a:pPr>
              <a:defRPr>
                <a:solidFill>
                  <a:srgbClr val="0041A1"/>
                </a:solidFill>
              </a:defRPr>
            </a:pPr>
            <a:r>
              <a:t>Implementing Basic Operations</a:t>
            </a:r>
          </a:p>
          <a:p>
            <a:pPr>
              <a:defRPr>
                <a:solidFill>
                  <a:srgbClr val="0041A1"/>
                </a:solidFill>
              </a:defRPr>
            </a:pPr>
            <a:r>
              <a:t>User Interaction &amp; Menu-Driven Interface</a:t>
            </a:r>
          </a:p>
          <a:p>
            <a:pPr>
              <a:defRPr>
                <a:solidFill>
                  <a:srgbClr val="0041A1"/>
                </a:solidFill>
              </a:defRPr>
            </a:pPr>
            <a:r>
              <a:t>Advanced Features: Multi-Account Management</a:t>
            </a:r>
          </a:p>
          <a:p>
            <a:pPr>
              <a:defRPr>
                <a:solidFill>
                  <a:srgbClr val="0041A1"/>
                </a:solidFill>
              </a:defRPr>
            </a:pPr>
            <a:r>
              <a:t>Error Handling &amp; Security Considerations</a:t>
            </a:r>
          </a:p>
          <a:p>
            <a:pPr>
              <a:defRPr>
                <a:solidFill>
                  <a:srgbClr val="0041A1"/>
                </a:solidFill>
              </a:defRPr>
            </a:pPr>
            <a:r>
              <a:t>Testing, Debugging &amp; Performance</a:t>
            </a:r>
          </a:p>
          <a:p>
            <a:pPr>
              <a:defRPr>
                <a:solidFill>
                  <a:srgbClr val="0041A1"/>
                </a:solidFill>
              </a:defRPr>
            </a:pPr>
            <a:r>
              <a:t>Conclusion &amp; Next Step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• Motivation behind the simulation:…"/>
          <p:cNvSpPr txBox="1"/>
          <p:nvPr>
            <p:ph type="body" idx="1"/>
          </p:nvPr>
        </p:nvSpPr>
        <p:spPr>
          <a:xfrm>
            <a:off x="861225" y="1028007"/>
            <a:ext cx="9767182" cy="5749404"/>
          </a:xfrm>
          <a:prstGeom prst="rect">
            <a:avLst/>
          </a:prstGeom>
        </p:spPr>
        <p:txBody>
          <a:bodyPr/>
          <a:lstStyle/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1400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endParaRPr b="0">
              <a:latin typeface="+mj-lt"/>
              <a:ea typeface="+mj-ea"/>
              <a:cs typeface="+mj-cs"/>
              <a:sym typeface="Helvetica"/>
            </a:endParaRPr>
          </a:p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111111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1400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Motivation behind the simulation:</a:t>
            </a:r>
            <a:endParaRPr b="0">
              <a:latin typeface="+mj-lt"/>
              <a:ea typeface="+mj-ea"/>
              <a:cs typeface="+mj-cs"/>
              <a:sym typeface="Helvetica"/>
            </a:endParaRPr>
          </a:p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111111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Modeling a bank account in C offers a sandbox for reasoning about monetary state, transaction atomicity, and error propagation without the regulatory overhead of real banking systems.</a:t>
            </a:r>
          </a:p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111111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1400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Learning outcomes:</a:t>
            </a:r>
            <a:endParaRPr b="0">
              <a:latin typeface="+mj-lt"/>
              <a:ea typeface="+mj-ea"/>
              <a:cs typeface="+mj-cs"/>
              <a:sym typeface="Helvetica"/>
            </a:endParaRPr>
          </a:p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111111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Participants will master the definition of composite data types, direct memory handling, console I/O, and systematic unit testing, laying a foundation for embedded finance applications.</a:t>
            </a:r>
          </a:p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111111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1400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C as the language of choice:</a:t>
            </a:r>
            <a:endParaRPr b="0">
              <a:latin typeface="+mj-lt"/>
              <a:ea typeface="+mj-ea"/>
              <a:cs typeface="+mj-cs"/>
              <a:sym typeface="Helvetica"/>
            </a:endParaRPr>
          </a:p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111111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C’s deterministic execution model, fine-grained control over data layout, and minimal runtime make it ideal for high-frequency, low-latency financial kernels that must run on constrained hardware.</a:t>
            </a:r>
          </a:p>
        </p:txBody>
      </p:sp>
      <p:sp>
        <p:nvSpPr>
          <p:cNvPr id="105" name="Why simulate a bank account in C?"/>
          <p:cNvSpPr txBox="1"/>
          <p:nvPr>
            <p:ph type="title"/>
          </p:nvPr>
        </p:nvSpPr>
        <p:spPr>
          <a:xfrm>
            <a:off x="838200" y="230187"/>
            <a:ext cx="10515600" cy="1595439"/>
          </a:xfrm>
          <a:prstGeom prst="rect">
            <a:avLst/>
          </a:prstGeom>
        </p:spPr>
        <p:txBody>
          <a:bodyPr/>
          <a:lstStyle>
            <a:lvl1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3000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Why simulate a bank account in C?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ore Concepts &amp; Data Structures"/>
          <p:cNvSpPr txBox="1"/>
          <p:nvPr>
            <p:ph type="title"/>
          </p:nvPr>
        </p:nvSpPr>
        <p:spPr>
          <a:xfrm>
            <a:off x="838200" y="230187"/>
            <a:ext cx="10515600" cy="1595439"/>
          </a:xfrm>
          <a:prstGeom prst="rect">
            <a:avLst/>
          </a:prstGeom>
        </p:spPr>
        <p:txBody>
          <a:bodyPr/>
          <a:lstStyle>
            <a:lvl1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3200">
                <a:solidFill>
                  <a:srgbClr val="111111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Core Concepts &amp; Data Structures</a:t>
            </a:r>
          </a:p>
        </p:txBody>
      </p:sp>
      <p:sp>
        <p:nvSpPr>
          <p:cNvPr id="108" name="Designing the Account abstraction…"/>
          <p:cNvSpPr txBox="1"/>
          <p:nvPr>
            <p:ph type="body" idx="1"/>
          </p:nvPr>
        </p:nvSpPr>
        <p:spPr>
          <a:xfrm>
            <a:off x="838200" y="1825625"/>
            <a:ext cx="10515600" cy="5032375"/>
          </a:xfrm>
          <a:prstGeom prst="rect">
            <a:avLst/>
          </a:prstGeom>
        </p:spPr>
        <p:txBody>
          <a:bodyPr/>
          <a:lstStyle/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1400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Designing the Account abstraction</a:t>
            </a:r>
            <a:endParaRPr b="0">
              <a:latin typeface="+mj-lt"/>
              <a:ea typeface="+mj-ea"/>
              <a:cs typeface="+mj-cs"/>
              <a:sym typeface="Helvetica"/>
            </a:endParaRPr>
          </a:p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111111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1400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Account struct blueprint:</a:t>
            </a:r>
            <a:endParaRPr b="0">
              <a:latin typeface="+mj-lt"/>
              <a:ea typeface="+mj-ea"/>
              <a:cs typeface="+mj-cs"/>
              <a:sym typeface="Helvetica"/>
            </a:endParaRPr>
          </a:p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111111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A compact aggregate type housing an integer identifier, a double-precision balance, and a fixed-size character array for the account holder, enabling contiguous storage and predictable offset calculations.</a:t>
            </a:r>
          </a:p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111111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1400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Constants and macros for safety:</a:t>
            </a:r>
            <a:endParaRPr b="0">
              <a:latin typeface="+mj-lt"/>
              <a:ea typeface="+mj-ea"/>
              <a:cs typeface="+mj-cs"/>
              <a:sym typeface="Helvetica"/>
            </a:endParaRPr>
          </a:p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111111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Preprocessor symbols such as MAX_ACCOUNTS, MIN_BALANCE, and OVERFLOW_THRESHOLD encode business rules at compile time, allowing the compiler to inline checks and reducing runtime branching.</a:t>
            </a:r>
          </a:p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111111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1400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Operation signatures:</a:t>
            </a:r>
            <a:endParaRPr b="0">
              <a:latin typeface="+mj-lt"/>
              <a:ea typeface="+mj-ea"/>
              <a:cs typeface="+mj-cs"/>
              <a:sym typeface="Helvetica"/>
            </a:endParaRPr>
          </a:p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111111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Prototype declarations for deposit, withdraw, and query functions convey intent, enforce type safety, and decouple implementation from the calling context, facilitating unit testing and future refactoring.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Implementing Basic Operations"/>
          <p:cNvSpPr txBox="1"/>
          <p:nvPr>
            <p:ph type="title"/>
          </p:nvPr>
        </p:nvSpPr>
        <p:spPr>
          <a:xfrm>
            <a:off x="838200" y="-57631"/>
            <a:ext cx="10515600" cy="1595438"/>
          </a:xfrm>
          <a:prstGeom prst="rect">
            <a:avLst/>
          </a:prstGeom>
        </p:spPr>
        <p:txBody>
          <a:bodyPr/>
          <a:lstStyle>
            <a:lvl1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3200">
                <a:solidFill>
                  <a:srgbClr val="111111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Implementing Basic Operations</a:t>
            </a:r>
          </a:p>
        </p:txBody>
      </p:sp>
      <p:sp>
        <p:nvSpPr>
          <p:cNvPr id="111" name="Deposit, withdraw, and query mechanics  ➕ Deposit routine…"/>
          <p:cNvSpPr txBox="1"/>
          <p:nvPr>
            <p:ph type="body" idx="1"/>
          </p:nvPr>
        </p:nvSpPr>
        <p:spPr>
          <a:xfrm>
            <a:off x="838199" y="1146372"/>
            <a:ext cx="10515601" cy="5032376"/>
          </a:xfrm>
          <a:prstGeom prst="rect">
            <a:avLst/>
          </a:prstGeom>
        </p:spPr>
        <p:txBody>
          <a:bodyPr/>
          <a:lstStyle/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1400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sz="2000"/>
              <a:t>Deposit, withdraw, and query mechanics</a:t>
            </a:r>
            <a:br>
              <a:rPr sz="1800"/>
            </a:br>
            <a:br/>
            <a:r>
              <a:rPr sz="1600"/>
              <a:t>➕ Deposit routine</a:t>
            </a:r>
            <a:endParaRPr b="0" sz="1600">
              <a:latin typeface="+mj-lt"/>
              <a:ea typeface="+mj-ea"/>
              <a:cs typeface="+mj-cs"/>
              <a:sym typeface="Helvetica"/>
            </a:endParaRPr>
          </a:p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600">
                <a:solidFill>
                  <a:srgbClr val="111111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Validates a positive amount, checks that the addition will not surpass the defined overflow guard, then atomically updates the balance while returning a status code.</a:t>
            </a:r>
          </a:p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600">
                <a:solidFill>
                  <a:srgbClr val="111111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1600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➖ Withdrawal routine</a:t>
            </a:r>
            <a:endParaRPr b="0">
              <a:latin typeface="+mj-lt"/>
              <a:ea typeface="+mj-ea"/>
              <a:cs typeface="+mj-cs"/>
              <a:sym typeface="Helvetica"/>
            </a:endParaRPr>
          </a:p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600">
                <a:solidFill>
                  <a:srgbClr val="111111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Ensures the requested debit does not exceed the available balance, guards against underflow, and logs an error code for insufficient funds without mutating the state.</a:t>
            </a:r>
          </a:p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600">
                <a:solidFill>
                  <a:srgbClr val="111111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1600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👁 Balance inquiry</a:t>
            </a:r>
            <a:endParaRPr b="0">
              <a:latin typeface="+mj-lt"/>
              <a:ea typeface="+mj-ea"/>
              <a:cs typeface="+mj-cs"/>
              <a:sym typeface="Helvetica"/>
            </a:endParaRPr>
          </a:p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600">
                <a:solidFill>
                  <a:srgbClr val="111111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Provides read-only access to the current balance, formatting the monetary value with two decimal places and a currency symbol for a clean console display.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WhatsApp Image 2026-02-18 at 12.54.29.jpeg" descr="WhatsApp Image 2026-02-18 at 12.54.29.jpe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302979"/>
            <a:ext cx="12192001" cy="574548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PHOTO-2026-02-18-12-54-29.jpg" descr="PHOTO-2026-02-18-12-54-29.jp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-1" y="315154"/>
            <a:ext cx="12192001" cy="592836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PHOTO-2026-02-18-12-54-29.jpg" descr="PHOTO-2026-02-18-12-54-29.jp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357064"/>
            <a:ext cx="12192001" cy="584454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User Interaction &amp; Menu-Driven Interface"/>
          <p:cNvSpPr txBox="1"/>
          <p:nvPr>
            <p:ph type="title"/>
          </p:nvPr>
        </p:nvSpPr>
        <p:spPr>
          <a:xfrm>
            <a:off x="838200" y="230187"/>
            <a:ext cx="10515600" cy="1595439"/>
          </a:xfrm>
          <a:prstGeom prst="rect">
            <a:avLst/>
          </a:prstGeom>
        </p:spPr>
        <p:txBody>
          <a:bodyPr/>
          <a:lstStyle>
            <a:lvl1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3200">
                <a:solidFill>
                  <a:srgbClr val="111111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User Interaction &amp; Menu-Driven Interface</a:t>
            </a:r>
            <a:endParaRPr b="0"/>
          </a:p>
        </p:txBody>
      </p:sp>
      <p:sp>
        <p:nvSpPr>
          <p:cNvPr id="120" name="Building a responsive CLI…"/>
          <p:cNvSpPr txBox="1"/>
          <p:nvPr>
            <p:ph type="body" idx="1"/>
          </p:nvPr>
        </p:nvSpPr>
        <p:spPr>
          <a:xfrm>
            <a:off x="838200" y="1192423"/>
            <a:ext cx="10515600" cy="5032376"/>
          </a:xfrm>
          <a:prstGeom prst="rect">
            <a:avLst/>
          </a:prstGeom>
        </p:spPr>
        <p:txBody>
          <a:bodyPr/>
          <a:lstStyle/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2000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Building a responsive CLI</a:t>
            </a:r>
            <a:endParaRPr b="0">
              <a:latin typeface="+mj-lt"/>
              <a:ea typeface="+mj-ea"/>
              <a:cs typeface="+mj-cs"/>
              <a:sym typeface="Helvetica"/>
            </a:endParaRPr>
          </a:p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111111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1600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Persistent menu loop:</a:t>
            </a:r>
            <a:endParaRPr b="0">
              <a:latin typeface="+mj-lt"/>
              <a:ea typeface="+mj-ea"/>
              <a:cs typeface="+mj-cs"/>
              <a:sym typeface="Helvetica"/>
            </a:endParaRPr>
          </a:p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600">
                <a:solidFill>
                  <a:srgbClr val="111111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A while(1) construct presents options repeatedly, delegating the user’s choice to a switch statement that dispatches to the appropriate account operation.</a:t>
            </a:r>
          </a:p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600">
                <a:solidFill>
                  <a:srgbClr val="111111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1600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Robust input handling:</a:t>
            </a:r>
            <a:endParaRPr b="0">
              <a:latin typeface="+mj-lt"/>
              <a:ea typeface="+mj-ea"/>
              <a:cs typeface="+mj-cs"/>
              <a:sym typeface="Helvetica"/>
            </a:endParaRPr>
          </a:p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600">
                <a:solidFill>
                  <a:srgbClr val="111111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scanf results are inspected; any mismatch triggers an input buffer flush and a user-friendly retry prompt, preventing undefined behaviour from malformed data.</a:t>
            </a:r>
          </a:p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600">
                <a:solidFill>
                  <a:srgbClr val="111111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1600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CLI polish:</a:t>
            </a:r>
            <a:endParaRPr b="0">
              <a:latin typeface="+mj-lt"/>
              <a:ea typeface="+mj-ea"/>
              <a:cs typeface="+mj-cs"/>
              <a:sym typeface="Helvetica"/>
            </a:endParaRPr>
          </a:p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600">
                <a:solidFill>
                  <a:srgbClr val="111111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Platform-agnostic screen clearing (e.g., system("clear") on Unix) and a pause routine using getchar() deliver a smooth, interactive experience without resorting to non-standard libraries.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Error Handling &amp; Security Considerations"/>
          <p:cNvSpPr txBox="1"/>
          <p:nvPr>
            <p:ph type="title"/>
          </p:nvPr>
        </p:nvSpPr>
        <p:spPr>
          <a:xfrm>
            <a:off x="838200" y="-46119"/>
            <a:ext cx="10515601" cy="1595439"/>
          </a:xfrm>
          <a:prstGeom prst="rect">
            <a:avLst/>
          </a:prstGeom>
        </p:spPr>
        <p:txBody>
          <a:bodyPr/>
          <a:lstStyle>
            <a:lvl1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3200">
                <a:solidFill>
                  <a:srgbClr val="111111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Error Handling &amp; Security Considerations</a:t>
            </a:r>
          </a:p>
        </p:txBody>
      </p:sp>
      <p:sp>
        <p:nvSpPr>
          <p:cNvPr id="123" name="Defending against invalid operations  Overflow and underflow detection…"/>
          <p:cNvSpPr txBox="1"/>
          <p:nvPr>
            <p:ph type="body" idx="1"/>
          </p:nvPr>
        </p:nvSpPr>
        <p:spPr>
          <a:xfrm>
            <a:off x="861225" y="1215449"/>
            <a:ext cx="9412086" cy="5032376"/>
          </a:xfrm>
          <a:prstGeom prst="rect">
            <a:avLst/>
          </a:prstGeom>
        </p:spPr>
        <p:txBody>
          <a:bodyPr/>
          <a:lstStyle/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2000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Defending against invalid operations</a:t>
            </a:r>
            <a:br/>
            <a:br/>
            <a:r>
              <a:rPr sz="1800"/>
              <a:t>Overflow and underflow detection</a:t>
            </a:r>
            <a:endParaRPr b="0">
              <a:latin typeface="+mj-lt"/>
              <a:ea typeface="+mj-ea"/>
              <a:cs typeface="+mj-cs"/>
              <a:sym typeface="Helvetica"/>
            </a:endParaRPr>
          </a:p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111111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Before any arithmetic, the code compares operands against INT_MAX/INT_MIN or uses __builtin_add_overflow to guarantee that the result stays within legal bounds.</a:t>
            </a:r>
          </a:p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111111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1400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Input sanitisation</a:t>
            </a:r>
            <a:endParaRPr b="0">
              <a:latin typeface="+mj-lt"/>
              <a:ea typeface="+mj-ea"/>
              <a:cs typeface="+mj-cs"/>
              <a:sym typeface="Helvetica"/>
            </a:endParaRPr>
          </a:p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111111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All numeric entries are bounded by explicit range checks; string inputs are limited by sizeof buffers and read with fgets instead of unsafe gets.</a:t>
            </a:r>
          </a:p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111111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1400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Secure I/O alternatives</a:t>
            </a:r>
            <a:endParaRPr b="0">
              <a:latin typeface="+mj-lt"/>
              <a:ea typeface="+mj-ea"/>
              <a:cs typeface="+mj-cs"/>
              <a:sym typeface="Helvetica"/>
            </a:endParaRPr>
          </a:p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111111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Rather than relying on fflush(stdin), the program discards residual characters with a loop reading until a newline, eliminating undefined behaviour on non-POSIX platforms.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sting, Debugging &amp; Performance"/>
          <p:cNvSpPr txBox="1"/>
          <p:nvPr>
            <p:ph type="title"/>
          </p:nvPr>
        </p:nvSpPr>
        <p:spPr>
          <a:xfrm>
            <a:off x="838200" y="123357"/>
            <a:ext cx="10515601" cy="1325564"/>
          </a:xfrm>
          <a:prstGeom prst="rect">
            <a:avLst/>
          </a:prstGeom>
        </p:spPr>
        <p:txBody>
          <a:bodyPr/>
          <a:lstStyle>
            <a:lvl1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3200">
                <a:solidFill>
                  <a:srgbClr val="111111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Testing, Debugging &amp; Performance</a:t>
            </a:r>
          </a:p>
        </p:txBody>
      </p:sp>
      <p:sp>
        <p:nvSpPr>
          <p:cNvPr id="126" name="Unit testing framework…"/>
          <p:cNvSpPr txBox="1"/>
          <p:nvPr>
            <p:ph type="body" sz="half" idx="1"/>
          </p:nvPr>
        </p:nvSpPr>
        <p:spPr>
          <a:xfrm>
            <a:off x="872738" y="1205660"/>
            <a:ext cx="5181601" cy="3293786"/>
          </a:xfrm>
          <a:prstGeom prst="rect">
            <a:avLst/>
          </a:prstGeom>
        </p:spPr>
        <p:txBody>
          <a:bodyPr/>
          <a:lstStyle/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2000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endParaRPr b="0">
              <a:latin typeface="+mj-lt"/>
              <a:ea typeface="+mj-ea"/>
              <a:cs typeface="+mj-cs"/>
              <a:sym typeface="Helvetica"/>
            </a:endParaRPr>
          </a:p>
          <a:p>
            <a:pPr marL="0" indent="0" defTabSz="12700">
              <a:lnSpc>
                <a:spcPct val="100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200">
                <a:latin typeface="+mj-lt"/>
                <a:ea typeface="+mj-ea"/>
                <a:cs typeface="+mj-cs"/>
                <a:sym typeface="Helvetica"/>
              </a:defRPr>
            </a:pPr>
          </a:p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111111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1600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Unit testing framework</a:t>
            </a:r>
            <a:endParaRPr b="0">
              <a:latin typeface="+mj-lt"/>
              <a:ea typeface="+mj-ea"/>
              <a:cs typeface="+mj-cs"/>
              <a:sym typeface="Helvetica"/>
            </a:endParaRPr>
          </a:p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600">
                <a:solidFill>
                  <a:srgbClr val="111111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Simple test harness feeds predetermined inputs to deposit/withdraw functions and asserts expected balances, automating regression checks after each code change.</a:t>
            </a:r>
          </a:p>
        </p:txBody>
      </p:sp>
      <p:sp>
        <p:nvSpPr>
          <p:cNvPr id="127" name="Dynamic analysis with gdb and Valgrind…"/>
          <p:cNvSpPr txBox="1"/>
          <p:nvPr/>
        </p:nvSpPr>
        <p:spPr>
          <a:xfrm>
            <a:off x="6851200" y="2115404"/>
            <a:ext cx="3957472" cy="19594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1600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Dynamic analysis with gdb and Valgrind</a:t>
            </a:r>
            <a:endParaRPr b="0">
              <a:latin typeface="+mj-lt"/>
              <a:ea typeface="+mj-ea"/>
              <a:cs typeface="+mj-cs"/>
              <a:sym typeface="Helvetica"/>
            </a:endParaRPr>
          </a:p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600">
                <a:solidFill>
                  <a:srgbClr val="111111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Step-through debugging isolates logical faults, while Valgrind’s memcheck flags leaks, illegal reads, and uninitialized memory accesses.</a:t>
            </a:r>
          </a:p>
        </p:txBody>
      </p:sp>
      <p:sp>
        <p:nvSpPr>
          <p:cNvPr id="128" name="Performance benchmarking…"/>
          <p:cNvSpPr txBox="1"/>
          <p:nvPr/>
        </p:nvSpPr>
        <p:spPr>
          <a:xfrm>
            <a:off x="867139" y="3999272"/>
            <a:ext cx="6359184" cy="13079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1600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Performance benchmarking</a:t>
            </a:r>
            <a:endParaRPr b="0">
              <a:latin typeface="+mj-lt"/>
              <a:ea typeface="+mj-ea"/>
              <a:cs typeface="+mj-cs"/>
              <a:sym typeface="Helvetica"/>
            </a:endParaRPr>
          </a:p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600">
                <a:solidFill>
                  <a:srgbClr val="111111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Chronometric loops execute bulk deposits on large account arrays, measuring CPU cycles with clock_gettime to highlight algorithmic scalability and cache effects.</a:t>
            </a:r>
          </a:p>
        </p:txBody>
      </p:sp>
      <p:sp>
        <p:nvSpPr>
          <p:cNvPr id="129" name="Ensuring correctness and efficiency"/>
          <p:cNvSpPr txBox="1"/>
          <p:nvPr/>
        </p:nvSpPr>
        <p:spPr>
          <a:xfrm>
            <a:off x="870103" y="1259238"/>
            <a:ext cx="4442461" cy="401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2000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Ensuring correctness and efficiency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Conclusion &amp; Next Steps"/>
          <p:cNvSpPr txBox="1"/>
          <p:nvPr>
            <p:ph type="title"/>
          </p:nvPr>
        </p:nvSpPr>
        <p:spPr>
          <a:xfrm>
            <a:off x="838199" y="-276374"/>
            <a:ext cx="10515601" cy="1595439"/>
          </a:xfrm>
          <a:prstGeom prst="rect">
            <a:avLst/>
          </a:prstGeom>
        </p:spPr>
        <p:txBody>
          <a:bodyPr/>
          <a:lstStyle>
            <a:lvl1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3200">
                <a:solidFill>
                  <a:srgbClr val="111111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Conclusion &amp; Next Steps</a:t>
            </a:r>
          </a:p>
        </p:txBody>
      </p:sp>
      <p:sp>
        <p:nvSpPr>
          <p:cNvPr id="132" name="• Implementation recap:…"/>
          <p:cNvSpPr txBox="1"/>
          <p:nvPr>
            <p:ph type="body" sz="half" idx="1"/>
          </p:nvPr>
        </p:nvSpPr>
        <p:spPr>
          <a:xfrm>
            <a:off x="1021324" y="1554580"/>
            <a:ext cx="8166326" cy="2975383"/>
          </a:xfrm>
          <a:prstGeom prst="rect">
            <a:avLst/>
          </a:prstGeom>
        </p:spPr>
        <p:txBody>
          <a:bodyPr/>
          <a:lstStyle/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400">
                <a:solidFill>
                  <a:srgbClr val="111111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1600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Implementation recap:</a:t>
            </a:r>
            <a:endParaRPr b="0">
              <a:latin typeface="+mj-lt"/>
              <a:ea typeface="+mj-ea"/>
              <a:cs typeface="+mj-cs"/>
              <a:sym typeface="Helvetica"/>
            </a:endParaRPr>
          </a:p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600">
                <a:solidFill>
                  <a:srgbClr val="111111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We have built a modular, well-documented C codebase that models accounts, enforces financial invariants, and provides a clean command-line interface.</a:t>
            </a:r>
          </a:p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600">
                <a:solidFill>
                  <a:srgbClr val="111111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600">
                <a:solidFill>
                  <a:srgbClr val="111111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  <a:p>
            <a:pPr marL="0" indent="0" defTabSz="12700">
              <a:lnSpc>
                <a:spcPct val="135000"/>
              </a:lnSpc>
              <a:spcBef>
                <a:spcPts val="0"/>
              </a:spcBef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600">
                <a:solidFill>
                  <a:srgbClr val="111111"/>
                </a:solidFill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33" name="From prototype to production-grade system"/>
          <p:cNvSpPr txBox="1"/>
          <p:nvPr/>
        </p:nvSpPr>
        <p:spPr>
          <a:xfrm>
            <a:off x="1014933" y="1132598"/>
            <a:ext cx="5423917" cy="401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2000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From prototype to production-grade system</a:t>
            </a:r>
          </a:p>
        </p:txBody>
      </p:sp>
      <p:sp>
        <p:nvSpPr>
          <p:cNvPr id="134" name="• Future expansion paths:…"/>
          <p:cNvSpPr txBox="1"/>
          <p:nvPr/>
        </p:nvSpPr>
        <p:spPr>
          <a:xfrm>
            <a:off x="1039421" y="3331532"/>
            <a:ext cx="5167712" cy="16336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1600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Future expansion paths:</a:t>
            </a:r>
            <a:endParaRPr b="0">
              <a:latin typeface="+mj-lt"/>
              <a:ea typeface="+mj-ea"/>
              <a:cs typeface="+mj-cs"/>
              <a:sym typeface="Helvetica"/>
            </a:endParaRPr>
          </a:p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600">
                <a:solidFill>
                  <a:srgbClr val="111111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Potential upgrades include a graphical front-end (e.g., using GTK), persistent storage via binary files or SQLite, and networking to expose the account engine as a microservice.</a:t>
            </a:r>
          </a:p>
        </p:txBody>
      </p:sp>
      <p:sp>
        <p:nvSpPr>
          <p:cNvPr id="135" name="• Best-practice guidelines:…"/>
          <p:cNvSpPr txBox="1"/>
          <p:nvPr/>
        </p:nvSpPr>
        <p:spPr>
          <a:xfrm>
            <a:off x="6728967" y="3331532"/>
            <a:ext cx="4398300" cy="16336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1600">
                <a:solidFill>
                  <a:srgbClr val="11111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Best-practice guidelines:</a:t>
            </a:r>
            <a:endParaRPr b="0">
              <a:latin typeface="+mj-lt"/>
              <a:ea typeface="+mj-ea"/>
              <a:cs typeface="+mj-cs"/>
              <a:sym typeface="Helvetica"/>
            </a:endParaRPr>
          </a:p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600">
                <a:solidFill>
                  <a:srgbClr val="111111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t>Emphasize separation of concerns, comprehensive commenting, and the use of header files to expose only essential interfaces, facilitating future extensions.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Content Placeholder 2"/>
          <p:cNvSpPr txBox="1"/>
          <p:nvPr>
            <p:ph type="body" idx="1"/>
          </p:nvPr>
        </p:nvSpPr>
        <p:spPr>
          <a:xfrm>
            <a:off x="838199" y="1253331"/>
            <a:ext cx="10515601" cy="4351338"/>
          </a:xfrm>
          <a:prstGeom prst="rect">
            <a:avLst/>
          </a:prstGeom>
        </p:spPr>
        <p:txBody>
          <a:bodyPr anchor="ctr"/>
          <a:lstStyle>
            <a:lvl1pPr marL="0" indent="0" algn="ctr">
              <a:buSzTx/>
              <a:buNone/>
              <a:defRPr b="1" sz="15000">
                <a:solidFill>
                  <a:srgbClr val="50605B"/>
                </a:solidFill>
              </a:defRPr>
            </a:lvl1pPr>
          </a:lstStyle>
          <a:p>
            <a:pPr/>
            <a:r>
              <a:t>THANK YOU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